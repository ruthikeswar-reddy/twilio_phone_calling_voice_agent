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Voice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0B8D4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5"/>
                </a:solidFill>
              </a:rPr>
              <a:t>Customer Support Voice Pipeline  ·  Real-Time AI Phone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192024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Twilio Media Streams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4572000"/>
            <a:ext cx="192024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590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Deepgram Nova-3 STT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572000"/>
            <a:ext cx="192024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590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LangGraph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4572000"/>
            <a:ext cx="1920240" cy="3474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590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Cartesia Sonic TTS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4572000"/>
            <a:ext cx="1920240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590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ServiceNow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End-to-end component view of the voice 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645920" cy="777240"/>
          </a:xfrm>
          <a:prstGeom prst="rect">
            <a:avLst/>
          </a:prstGeom>
          <a:solidFill>
            <a:srgbClr val="37474F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📞 Caller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PSTN 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914400"/>
            <a:ext cx="1645920" cy="777240"/>
          </a:xfrm>
          <a:prstGeom prst="rect">
            <a:avLst/>
          </a:prstGeom>
          <a:solidFill>
            <a:srgbClr val="1E88E5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Twilio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261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Media Streams
WebSocket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914400"/>
            <a:ext cx="1645920" cy="777240"/>
          </a:xfrm>
          <a:prstGeom prst="rect">
            <a:avLst/>
          </a:prstGeom>
          <a:solidFill>
            <a:srgbClr val="1E88E5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FastAPI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261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main.py
/media-stream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1645920" cy="777240"/>
          </a:xfrm>
          <a:prstGeom prst="rect">
            <a:avLst/>
          </a:prstGeom>
          <a:solidFill>
            <a:srgbClr val="00B8D4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987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VoicePipeline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261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voice_pipeline.py
Orchestrator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1645920" cy="777240"/>
          </a:xfrm>
          <a:prstGeom prst="rect">
            <a:avLst/>
          </a:prstGeom>
          <a:solidFill>
            <a:srgbClr val="43A047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633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Deepgram STT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Nova-3
Streaming ASR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560320"/>
            <a:ext cx="1645920" cy="777240"/>
          </a:xfrm>
          <a:prstGeom prst="rect">
            <a:avLst/>
          </a:prstGeom>
          <a:solidFill>
            <a:srgbClr val="7B1FA2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633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LangGraph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csa_groq.py
State Machine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2560320"/>
            <a:ext cx="1645920" cy="777240"/>
          </a:xfrm>
          <a:prstGeom prst="rect">
            <a:avLst/>
          </a:prstGeom>
          <a:solidFill>
            <a:srgbClr val="FF8F00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2633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Cartesia TTS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Sonic English
Streaming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560320"/>
            <a:ext cx="1645920" cy="777240"/>
          </a:xfrm>
          <a:prstGeom prst="rect">
            <a:avLst/>
          </a:prstGeom>
          <a:solidFill>
            <a:srgbClr val="37474F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633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Audio Utils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PCM ↔ μ-law
Codec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114800"/>
            <a:ext cx="1645920" cy="777240"/>
          </a:xfrm>
          <a:prstGeom prst="rect">
            <a:avLst/>
          </a:prstGeom>
          <a:solidFill>
            <a:srgbClr val="7B1FA2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4187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Groq / OpenAI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462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LLM Provider
(Streaming)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114800"/>
            <a:ext cx="1645920" cy="777240"/>
          </a:xfrm>
          <a:prstGeom prst="rect">
            <a:avLst/>
          </a:prstGeom>
          <a:solidFill>
            <a:srgbClr val="E53935"/>
          </a:solidFill>
          <a:ln w="190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4187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ServiceNow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462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Incident API
Ticket Creation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20240" y="1303020.0"/>
            <a:ext cx="274320" cy="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40480" y="1303020.0"/>
            <a:ext cx="274320" cy="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1303020.0"/>
            <a:ext cx="274320" cy="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88720" y="1691640"/>
            <a:ext cx="0" cy="86868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37760" y="1691640"/>
            <a:ext cx="0" cy="86868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920240" y="2948940.0"/>
            <a:ext cx="274320" cy="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40480" y="2948940.0"/>
            <a:ext cx="274320" cy="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60720" y="2948940.0"/>
            <a:ext cx="274320" cy="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017520" y="3337560"/>
            <a:ext cx="0" cy="77724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937760" y="3337560"/>
            <a:ext cx="0" cy="77724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955279" y="914400"/>
            <a:ext cx="3931920" cy="5303520"/>
          </a:xfrm>
          <a:prstGeom prst="rect">
            <a:avLst/>
          </a:prstGeom>
          <a:solidFill>
            <a:srgbClr val="172A3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Component Legend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1463040"/>
            <a:ext cx="274320" cy="25603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4356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Twilio / Network Layer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2103120"/>
            <a:ext cx="274320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2075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Speech-to-Text (STT)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2743200"/>
            <a:ext cx="274320" cy="2560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27157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AI Agent / LLM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3383280"/>
            <a:ext cx="274320" cy="25603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355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Text-to-Speech (TTS)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4023360"/>
            <a:ext cx="274320" cy="2560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3995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External APIs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4663440"/>
            <a:ext cx="274320" cy="256032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Infrastructure / Utilities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Data Flow — 6-Phase Audio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Real-time path from caller speech to synthesized voice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" y="914400"/>
            <a:ext cx="173736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" y="950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" y="1298448"/>
            <a:ext cx="1737360" cy="1051560"/>
          </a:xfrm>
          <a:prstGeom prst="rect">
            <a:avLst/>
          </a:prstGeom>
          <a:solidFill>
            <a:srgbClr val="172A3D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INCOMING
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1828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EC5"/>
                </a:solidFill>
              </a:rPr>
              <a:t>Twilio WebSocket
μ-law 8kHz audio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2556.0" y="1824228.0"/>
            <a:ext cx="182880.0" cy="0.0"/>
          </a:xfrm>
          <a:prstGeom prst="line">
            <a:avLst/>
          </a:prstGeom>
          <a:ln w="2540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345436" y="914400"/>
            <a:ext cx="1737360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5436" y="950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5436" y="1298448"/>
            <a:ext cx="1737360" cy="1051560"/>
          </a:xfrm>
          <a:prstGeom prst="rect">
            <a:avLst/>
          </a:prstGeom>
          <a:solidFill>
            <a:srgbClr val="172A3D"/>
          </a:solidFill>
          <a:ln w="1524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5436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SPEECH-TO-
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5436" y="1828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EC5"/>
                </a:solidFill>
              </a:rPr>
              <a:t>Deepgram Nova-3
VAD + ASR streaming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82796.0" y="1824228.0"/>
            <a:ext cx="182880.0" cy="0.0"/>
          </a:xfrm>
          <a:prstGeom prst="line">
            <a:avLst/>
          </a:prstGeom>
          <a:ln w="2540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65676" y="914400"/>
            <a:ext cx="173736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5676" y="950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5676" y="1298448"/>
            <a:ext cx="1737360" cy="1051560"/>
          </a:xfrm>
          <a:prstGeom prst="rect">
            <a:avLst/>
          </a:prstGeom>
          <a:solidFill>
            <a:srgbClr val="172A3D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5676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
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5676" y="1828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EC5"/>
                </a:solidFill>
              </a:rPr>
              <a:t>LangGraph
State Machine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03036.0" y="1824228.0"/>
            <a:ext cx="182880.0" cy="0.0"/>
          </a:xfrm>
          <a:prstGeom prst="line">
            <a:avLst/>
          </a:prstGeom>
          <a:ln w="2540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85916" y="914400"/>
            <a:ext cx="1737360" cy="38404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5916" y="950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5916" y="1298448"/>
            <a:ext cx="1737360" cy="1051560"/>
          </a:xfrm>
          <a:prstGeom prst="rect">
            <a:avLst/>
          </a:prstGeom>
          <a:solidFill>
            <a:srgbClr val="172A3D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TEXT-TO-
SPEECH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5916" y="1828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EC5"/>
                </a:solidFill>
              </a:rPr>
              <a:t>Cartesia Sonic
PCM streaming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3276.0" y="1824228.0"/>
            <a:ext cx="182880.0" cy="0.0"/>
          </a:xfrm>
          <a:prstGeom prst="line">
            <a:avLst/>
          </a:prstGeom>
          <a:ln w="2540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106156" y="914400"/>
            <a:ext cx="173736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6156" y="950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6156" y="1298448"/>
            <a:ext cx="1737360" cy="1051560"/>
          </a:xfrm>
          <a:prstGeom prst="rect">
            <a:avLst/>
          </a:prstGeom>
          <a:solidFill>
            <a:srgbClr val="172A3D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6156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OUTBOUND
AUDIO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6156" y="1828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EC5"/>
                </a:solidFill>
              </a:rPr>
              <a:t>PCM→μ-law encode
Back to Twilio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43516.0" y="1824228.0"/>
            <a:ext cx="182880.0" cy="0.0"/>
          </a:xfrm>
          <a:prstGeom prst="line">
            <a:avLst/>
          </a:prstGeom>
          <a:ln w="2540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026396" y="914400"/>
            <a:ext cx="1737360" cy="38404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26396" y="9509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26396" y="1298448"/>
            <a:ext cx="1737360" cy="1051560"/>
          </a:xfrm>
          <a:prstGeom prst="rect">
            <a:avLst/>
          </a:prstGeom>
          <a:solidFill>
            <a:srgbClr val="172A3D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26396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BARGE-IN
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6396" y="18288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EC5"/>
                </a:solidFill>
              </a:rPr>
              <a:t>VAD interruption
2-step arm+fire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743200"/>
            <a:ext cx="11640312" cy="4572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8D4"/>
                </a:solidFill>
              </a:rPr>
              <a:t>Target: &lt; 500ms Time-To-First-Word (TTFW)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291840"/>
            <a:ext cx="283464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33284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Twilio Protocol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639312"/>
            <a:ext cx="2834640" cy="2075688"/>
          </a:xfrm>
          <a:prstGeom prst="rect">
            <a:avLst/>
          </a:prstGeom>
          <a:solidFill>
            <a:srgbClr val="172A3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7033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JSON events over WebSocket
• connected → start → media → stop
• Base64 μ-law 8kHz chunks
• 'clear' for barge-in interrupt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82112" y="3291840"/>
            <a:ext cx="283464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2112" y="33284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Deepgram VAD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82112" y="3639312"/>
            <a:ext cx="2834640" cy="2075688"/>
          </a:xfrm>
          <a:prstGeom prst="rect">
            <a:avLst/>
          </a:prstGeom>
          <a:solidFill>
            <a:srgbClr val="172A3D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3552" y="37033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Voice Activity Detection
• speech_start → arm barge-in
• is_final → accumulate buffer
• speech_final → launch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1344" y="3291840"/>
            <a:ext cx="283464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81344" y="33284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LangGraph Nodes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1344" y="3639312"/>
            <a:ext cx="2834640" cy="2075688"/>
          </a:xfrm>
          <a:prstGeom prst="rect">
            <a:avLst/>
          </a:prstGeom>
          <a:solidFill>
            <a:srgbClr val="172A3D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7033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classify → extract → ask
→ confirm → handle_confirm
→ create (ServiceNow ticket)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0576" y="3291840"/>
            <a:ext cx="2834640" cy="347472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576" y="33284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Cartesia TTS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0576" y="3639312"/>
            <a:ext cx="2834640" cy="2075688"/>
          </a:xfrm>
          <a:prstGeom prst="rect">
            <a:avLst/>
          </a:prstGeom>
          <a:solidFill>
            <a:srgbClr val="172A3D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2016" y="37033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Min 100-char buffer
Sentence splitting (120 char)
PCM 16-bit LE at 8kHz
~80–120ms first chunk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VoicePipeline — 3 Concurrent Async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voice_pipeline.py · asyncio TaskGroup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347472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138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LOOP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474720" cy="3703320"/>
          </a:xfrm>
          <a:prstGeom prst="rect">
            <a:avLst/>
          </a:prstGeom>
          <a:solidFill>
            <a:srgbClr val="172A3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88E5"/>
                </a:solidFill>
              </a:rPr>
              <a:t>_receive_twilio_loop()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Read Twilio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957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Decode base64 μ-law audio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540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Forward chunks to Deepgram STT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124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Handle connect / start / stop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777240"/>
            <a:ext cx="347472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8138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LOOP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188720"/>
            <a:ext cx="3474720" cy="3703320"/>
          </a:xfrm>
          <a:prstGeom prst="rect">
            <a:avLst/>
          </a:prstGeom>
          <a:solidFill>
            <a:srgbClr val="172A3D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252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43A047"/>
                </a:solidFill>
              </a:rPr>
              <a:t>_handle_stt_events()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737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Process speech_start → arm barge-in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3957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Process interim → fire barge-in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0540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Process final → normalize transcript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124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Launch/cancel agent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777240"/>
            <a:ext cx="3474720" cy="4114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8138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LOOP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1188720"/>
            <a:ext cx="3474720" cy="3703320"/>
          </a:xfrm>
          <a:prstGeom prst="rect">
            <a:avLst/>
          </a:prstGeom>
          <a:solidFill>
            <a:srgbClr val="172A3D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1252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8F00"/>
                </a:solidFill>
              </a:rPr>
              <a:t>_tts_loop() + _send_audio_loop()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7373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Buffer agent tokens (min 100 chars)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3957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Split on sentences / newlines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0540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Stream to Cartesia TTS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7124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▶  PCM → μ-law → base64 → Twilio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2926080"/>
            <a:ext cx="457200" cy="3200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294436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2926080"/>
            <a:ext cx="457200" cy="3200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94436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029200"/>
            <a:ext cx="11247120" cy="1554480"/>
          </a:xfrm>
          <a:prstGeom prst="rect">
            <a:avLst/>
          </a:prstGeom>
          <a:solidFill>
            <a:srgbClr val="172A3D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074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</a:rPr>
              <a:t>Barge-In (Interruption)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458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1. speech_start VAD event fires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5184" y="5458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2. Check elapsed TTS time ≥ 700ms grace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4608" y="5458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3. Set _barge_in_armed = 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5458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4. Interim/final transcript confirms real speech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5458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5. Cancel _agent_task · drain queues · send 'clear' to Twilio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Speech-to-Text — Deepgram Nova-3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stt/deepgram_stt.py  ·  Streaming ASR over WebSocket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029200" cy="5394960"/>
          </a:xfrm>
          <a:prstGeom prst="rect">
            <a:avLst/>
          </a:prstGeom>
          <a:solidFill>
            <a:srgbClr val="172A3D"/>
          </a:solidFill>
          <a:ln w="1524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</a:rPr>
              <a:t>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49377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99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99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nova-3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47087"/>
            <a:ext cx="4937760" cy="475488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202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Input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202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μ-law 8kHz (Twilio native)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68294"/>
            <a:ext cx="49377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4144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4144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WebSocket 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89501"/>
            <a:ext cx="4937760" cy="475488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6265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VAD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96265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Enabled (vad_events=True)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10708"/>
            <a:ext cx="49377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4838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Endpointing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4838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200ms silence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15"/>
            <a:ext cx="4937760" cy="475488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0506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Utterance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00506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1000ms timeout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53122"/>
            <a:ext cx="49377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2627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Smart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52627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Enabled (punctuation)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74329"/>
            <a:ext cx="4937760" cy="475488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04748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04748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en-US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777240"/>
            <a:ext cx="6400800" cy="5394960"/>
          </a:xfrm>
          <a:prstGeom prst="rect">
            <a:avLst/>
          </a:prstGeom>
          <a:solidFill>
            <a:srgbClr val="172A3D"/>
          </a:solidFill>
          <a:ln w="1524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8686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A047"/>
                </a:solidFill>
              </a:rPr>
              <a:t>Events &amp; Processing Logic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1325880"/>
            <a:ext cx="6217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1325880"/>
            <a:ext cx="1920240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1618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speech_start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3898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VAD detects voice activity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3A047"/>
                </a:solidFill>
              </a:rPr>
              <a:t>→ Arm barge-in (after 700ms grace)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423160"/>
            <a:ext cx="6217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2423160"/>
            <a:ext cx="1920240" cy="100584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2715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4871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Partial / committed chunk (is_final=True)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8D4"/>
                </a:solidFill>
              </a:rPr>
              <a:t>→ Fire barge-in if armed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520440"/>
            <a:ext cx="6217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77840" y="3520440"/>
            <a:ext cx="1920240" cy="10058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3813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final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35844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Utterance complete (speech_final=True)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8F00"/>
                </a:solidFill>
              </a:rPr>
              <a:t>→ Normalize transcript → launch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4617720"/>
            <a:ext cx="6217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7840" y="4617720"/>
            <a:ext cx="1920240" cy="10058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60" y="4910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utterance_end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46817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1000ms silence detected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5120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B1FA2"/>
                </a:solidFill>
              </a:rPr>
              <a:t>→ Flush accumulated is_final buffer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291072"/>
            <a:ext cx="11612880" cy="475488"/>
          </a:xfrm>
          <a:prstGeom prst="rect">
            <a:avLst/>
          </a:prstGeom>
          <a:solidFill>
            <a:srgbClr val="172A3D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31850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</a:rPr>
              <a:t>  Transcript Normalization:  "dot com" → ".com"  ·  "at the rate" → "@"  ·  "one two three" → "123"  ·  "E M one" → "EM1"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LangGraph Agent — ServiceNow Ticket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agent/csa_groq.py  ·  StateGraph with 7 nodes and conditional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3474720" cy="5394960"/>
          </a:xfrm>
          <a:prstGeom prst="rect">
            <a:avLst/>
          </a:prstGeom>
          <a:solidFill>
            <a:srgbClr val="172A3D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1FA2"/>
                </a:solidFill>
              </a:rPr>
              <a:t>TicketState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33832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624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6002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EC5"/>
                </a:solidFill>
              </a:rPr>
              <a:t>List[BaseMessage]  (history)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84248"/>
            <a:ext cx="3383280" cy="621792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0208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2585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EC5"/>
                </a:solidFill>
              </a:rPr>
              <a:t>{employee_id, email, location,
 short_desc, detail_desc, category, priority}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642616"/>
            <a:ext cx="33832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679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pending_field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9169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EC5"/>
                </a:solidFill>
              </a:rPr>
              <a:t>Optional[str]  (next to collect)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00984"/>
            <a:ext cx="3383280" cy="621792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337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awaiting_confirmation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5753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EC5"/>
                </a:solidFill>
              </a:rPr>
              <a:t>bool  (summary shown to user)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59352"/>
            <a:ext cx="33832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9959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confirmed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233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EC5"/>
                </a:solidFill>
              </a:rPr>
              <a:t>bool  (user agreed)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617720"/>
            <a:ext cx="3383280" cy="621792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4654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field_to_update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8920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EC5"/>
                </a:solidFill>
              </a:rPr>
              <a:t>Optional[str]  (change request)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097280"/>
            <a:ext cx="1554480" cy="475488"/>
          </a:xfrm>
          <a:prstGeom prst="rect">
            <a:avLst/>
          </a:prstGeom>
          <a:solidFill>
            <a:srgbClr val="7B1FA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118872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194560"/>
            <a:ext cx="1554480" cy="475488"/>
          </a:xfrm>
          <a:prstGeom prst="rect">
            <a:avLst/>
          </a:prstGeom>
          <a:solidFill>
            <a:srgbClr val="1E88E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228600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greeting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194560"/>
            <a:ext cx="1554480" cy="475488"/>
          </a:xfrm>
          <a:prstGeom prst="rect">
            <a:avLst/>
          </a:prstGeom>
          <a:solidFill>
            <a:srgbClr val="E5393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28600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unrelated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194560"/>
            <a:ext cx="1554480" cy="475488"/>
          </a:xfrm>
          <a:prstGeom prst="rect">
            <a:avLst/>
          </a:prstGeom>
          <a:solidFill>
            <a:srgbClr val="7B1FA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28600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291840"/>
            <a:ext cx="1554480" cy="475488"/>
          </a:xfrm>
          <a:prstGeom prst="rect">
            <a:avLst/>
          </a:prstGeom>
          <a:solidFill>
            <a:srgbClr val="FF8F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338328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291840"/>
            <a:ext cx="1554480" cy="475488"/>
          </a:xfrm>
          <a:prstGeom prst="rect">
            <a:avLst/>
          </a:prstGeom>
          <a:solidFill>
            <a:srgbClr val="FF8F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38328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4297680"/>
            <a:ext cx="1554480" cy="475488"/>
          </a:xfrm>
          <a:prstGeom prst="rect">
            <a:avLst/>
          </a:prstGeom>
          <a:solidFill>
            <a:srgbClr val="00B8D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438912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handle_confirm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5212080"/>
            <a:ext cx="1554480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5303520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create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977640.0" y="1335024.0"/>
            <a:ext cx="1645920.0" cy="109728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23560.0" y="1335024.0"/>
            <a:ext cx="1737360.0" cy="109728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23560.0" y="1335024.0"/>
            <a:ext cx="0.0" cy="109728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617720.0" y="2432304.0"/>
            <a:ext cx="1005840.0" cy="109728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23560.0" y="2432304.0"/>
            <a:ext cx="1005840.0" cy="109728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17720.0" y="3529584.0"/>
            <a:ext cx="1005840.0" cy="100584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623560.0" y="3529584.0"/>
            <a:ext cx="1005840.0" cy="100584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23560.0" y="4535424.0"/>
            <a:ext cx="0.0" cy="91440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77640.0" y="2432304.0"/>
            <a:ext cx="1645920.0" cy="301752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623560.0" y="2432304.0"/>
            <a:ext cx="1737360.0" cy="3017520.0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412480" y="777240"/>
            <a:ext cx="3566160" cy="5394960"/>
          </a:xfrm>
          <a:prstGeom prst="rect">
            <a:avLst/>
          </a:prstGeom>
          <a:solidFill>
            <a:srgbClr val="172A3D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868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1FA2"/>
                </a:solidFill>
              </a:rPr>
              <a:t>Node Descriptions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1325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classify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1325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Routes: greeting / ticket / unrelated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greeting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Welcome response for salutations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unrelated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2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Redirect to ticket creation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extract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4120" y="2971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LLM extracts ticket fields from speech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3520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ask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3520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Voice-friendly question for missing field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069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confirm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069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Summarize ticket, ask user to confirm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617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handle_confirm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Route: confirm / change / unclear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5166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1FA2"/>
                </a:solidFill>
              </a:rPr>
              <a:t>  create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5166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HTTP POST to ServiceNow incident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Text-to-Speech &amp; Audio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tts/cartesia_tts.py  ·  audio_utils.py  ·  Cartesia Sonic streaming TTS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5303520" cy="3017520"/>
          </a:xfrm>
          <a:prstGeom prst="rect">
            <a:avLst/>
          </a:prstGeom>
          <a:solidFill>
            <a:srgbClr val="172A3D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868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Cartesia Sonic — Specs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521208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sonic-english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19072"/>
            <a:ext cx="5212080" cy="365760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647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Output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7647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PCM 16-bit LE at 8 kHz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112264"/>
            <a:ext cx="521208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579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1579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HTTPS POST 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505456"/>
            <a:ext cx="5212080" cy="365760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51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5511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raw (no wrapper)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98648"/>
            <a:ext cx="521208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944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944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pcm_s16le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91840"/>
            <a:ext cx="5212080" cy="365760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375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337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~80–120ms to first chunk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931920"/>
            <a:ext cx="5303520" cy="2286000"/>
          </a:xfrm>
          <a:prstGeom prst="rect">
            <a:avLst/>
          </a:prstGeom>
          <a:solidFill>
            <a:srgbClr val="172A3D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4023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Audio Codec Utilities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pcm_to_ulaw(pcm_bytes)    — PCM 16-bit LE → μ-law 8-bit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846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ulaw_to_pcm(ulaw_bytes)   — μ-law 8-bit → PCM 16-bit 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resample_pcm(pcm, fr, to) — Resample between sample 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669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normalize_audio_level()   — Normalize RMS volume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777240"/>
            <a:ext cx="6309360" cy="5440680"/>
          </a:xfrm>
          <a:prstGeom prst="rect">
            <a:avLst/>
          </a:prstGeom>
          <a:solidFill>
            <a:srgbClr val="172A3D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868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TTS Buffering &amp; Streaming 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325880"/>
            <a:ext cx="6126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60720" y="1325880"/>
            <a:ext cx="164592" cy="65836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3624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B1FA2"/>
                </a:solidFill>
              </a:rPr>
              <a:t>Agent Text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165506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Word/chunk tokens from LangGraph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23960" y="1984248"/>
            <a:ext cx="0" cy="54864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760720" y="2039112"/>
            <a:ext cx="6126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2039112"/>
            <a:ext cx="164592" cy="65836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20756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8F00"/>
                </a:solidFill>
              </a:rPr>
              <a:t>Token Buffer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236829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Accumulate until ≥ 100 chars
or 50ms timeout elapses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23960" y="2697480"/>
            <a:ext cx="0" cy="54864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760720" y="2752344"/>
            <a:ext cx="6126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2752344"/>
            <a:ext cx="164592" cy="65836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2788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Sentence Splitter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30815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Split at '.', '?', '!', newlines
Max 120 chars per segment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23960" y="3410712"/>
            <a:ext cx="0" cy="54864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760720" y="3465576"/>
            <a:ext cx="6126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3465576"/>
            <a:ext cx="164592" cy="658368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35021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8F00"/>
                </a:solidFill>
              </a:rPr>
              <a:t>Cartesia TTS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7947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HTTPS POST streaming request
Returns raw PCM chunks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823960" y="4123944"/>
            <a:ext cx="0" cy="54864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760720" y="4178808"/>
            <a:ext cx="6126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60720" y="4178808"/>
            <a:ext cx="164592" cy="65836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42153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3A047"/>
                </a:solidFill>
              </a:rPr>
              <a:t>PCM → μ-law Encoder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450799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audioop.lin2ulaw conversion
Run in executor (non-blocking)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23960" y="4837176"/>
            <a:ext cx="0" cy="54864"/>
          </a:xfrm>
          <a:prstGeom prst="line">
            <a:avLst/>
          </a:prstGeom>
          <a:ln w="19050">
            <a:solidFill>
              <a:srgbClr val="00B8D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760720" y="4892040"/>
            <a:ext cx="6126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60720" y="4892040"/>
            <a:ext cx="164592" cy="65836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4928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8E5"/>
                </a:solidFill>
              </a:rPr>
              <a:t>Twilio WebSocket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22122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Base64-encode → JSON media event
Send to caller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External Services &amp; Latency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API integrations and time-to-first-word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7132320" cy="4023360"/>
          </a:xfrm>
          <a:prstGeom prst="rect">
            <a:avLst/>
          </a:prstGeom>
          <a:solidFill>
            <a:srgbClr val="172A3D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935"/>
                </a:solidFill>
              </a:rPr>
              <a:t>External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98448"/>
            <a:ext cx="144475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3502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298448"/>
            <a:ext cx="208483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3350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298448"/>
            <a:ext cx="162763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350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298448"/>
            <a:ext cx="181051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335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Key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664208"/>
            <a:ext cx="144475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746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8E5"/>
                </a:solidFill>
              </a:rPr>
              <a:t>Twilio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1664208"/>
            <a:ext cx="208483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1746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Phone routing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1664208"/>
            <a:ext cx="162763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17465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WebSocket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1664208"/>
            <a:ext cx="181051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1746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Media Streams protocol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121408"/>
            <a:ext cx="144475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A047"/>
                </a:solidFill>
              </a:rPr>
              <a:t>Deepgram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2121408"/>
            <a:ext cx="208483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2203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Speech-to-Text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2121408"/>
            <a:ext cx="162763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22037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WebSocket stream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2121408"/>
            <a:ext cx="181051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203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Nova-3 model, VAD enabled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578608"/>
            <a:ext cx="144475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660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1FA2"/>
                </a:solidFill>
              </a:rPr>
              <a:t>Groq / OpenAI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40" y="2578608"/>
            <a:ext cx="208483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2660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LLM inference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2578608"/>
            <a:ext cx="162763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2660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HTTPS streaming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2578608"/>
            <a:ext cx="181051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2660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LangChain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035808"/>
            <a:ext cx="144475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118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F00"/>
                </a:solidFill>
              </a:rPr>
              <a:t>Cartesia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3035808"/>
            <a:ext cx="208483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37360" y="3118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Text-to-Speech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3035808"/>
            <a:ext cx="162763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0" y="31181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HTTPS streaming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80" y="3035808"/>
            <a:ext cx="1810512" cy="420624"/>
          </a:xfrm>
          <a:prstGeom prst="rect">
            <a:avLst/>
          </a:prstGeom>
          <a:solidFill>
            <a:srgbClr val="17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31181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sonic-english, PCM output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493008"/>
            <a:ext cx="144475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575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3935"/>
                </a:solidFill>
              </a:rPr>
              <a:t>ServiceNow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640" y="3493008"/>
            <a:ext cx="208483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3575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Ticket creation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3493008"/>
            <a:ext cx="162763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3575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HTTPS REST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3493008"/>
            <a:ext cx="1810512" cy="42062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35753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Incident table API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937760"/>
            <a:ext cx="7132320" cy="1691640"/>
          </a:xfrm>
          <a:prstGeom prst="rect">
            <a:avLst/>
          </a:prstGeom>
          <a:solidFill>
            <a:srgbClr val="172A3D"/>
          </a:solidFill>
          <a:ln w="1524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0292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</a:rPr>
              <a:t>Latency Budget (Time-To-First-Word)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577840"/>
            <a:ext cx="2779776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507492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43A047"/>
                </a:solidFill>
              </a:rPr>
              <a:t>Deepgram STT (is_final)
80–150ms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08376" y="5577840"/>
            <a:ext cx="347472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08376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B1FA2"/>
                </a:solidFill>
              </a:rPr>
              <a:t>LLM Time-To-First-Token
50–200ms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83096" y="5577840"/>
            <a:ext cx="2084832" cy="4114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3096" y="5074920"/>
            <a:ext cx="2084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8F00"/>
                </a:solidFill>
              </a:rPr>
              <a:t>Cartesia TTS first chunk
80–120ms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67928" y="5577840"/>
            <a:ext cx="694944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67928" y="5074920"/>
            <a:ext cx="694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E88E5"/>
                </a:solidFill>
              </a:rPr>
              <a:t>μ-law encode + network
10–30ms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606247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8D4"/>
                </a:solidFill>
              </a:rPr>
              <a:t>Total: 220–500ms  (target &lt; 500ms TTFW)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79" y="777240"/>
            <a:ext cx="4480560" cy="5852160"/>
          </a:xfrm>
          <a:prstGeom prst="rect">
            <a:avLst/>
          </a:prstGeom>
          <a:solidFill>
            <a:srgbClr val="172A3D"/>
          </a:solidFill>
          <a:ln w="1524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8686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</a:rPr>
              <a:t>Key Design Patterns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43800" y="1325880"/>
            <a:ext cx="43891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5240" y="136245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Async TaskGroup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16459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3 independent loops via asyncio
TaskGroup; any exception stops 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43800" y="2130552"/>
            <a:ext cx="43891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21671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Queue-Based Decoupling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2450592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STT → Agent → TTS via asyncio.Queue
Producer/consumer pattern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43800" y="2935224"/>
            <a:ext cx="43891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35240" y="297180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Streaming Everywhere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325526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WebSockets for STT/Twilio
HTTPS streaming for TTS/LLM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43800" y="3739896"/>
            <a:ext cx="43891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35240" y="377647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Speculative Execution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405993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Agent starts on interim STT result
Final transcript triggers real run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43800" y="4544568"/>
            <a:ext cx="43891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5240" y="458114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State Machine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486460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LangGraph ticket collection
Multi-node graph with routing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43800" y="5349240"/>
            <a:ext cx="4389120" cy="749808"/>
          </a:xfrm>
          <a:prstGeom prst="rect">
            <a:avLst/>
          </a:prstGeom>
          <a:solidFill>
            <a:srgbClr val="0D1B2A"/>
          </a:solidFill>
          <a:ln w="6350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35240" y="538581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B8D4"/>
                </a:solidFill>
              </a:rPr>
              <a:t>Per-Call Isolation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566928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Each Twilio call gets fresh
VoicePipeline + Agent instance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09728"/>
            <a:ext cx="1371600" cy="4023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65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Case 1 — Happy Path  ·  End-to-End Ticket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User provides all details correctly; ticket created without any corrections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Hello. How can you help me today?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49961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55648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1965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Hi! I can take care of creating your ServiceNow ticket. Could you describe the issue you're facing?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26771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523744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8775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I'm not able to log in into my VDI.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03580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291840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5584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you provide more details about the issue you're experiencing?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380390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059936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2394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After providing the credentials it is taking too much time to log in, and I am not able to see anything.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457200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828032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What is your employee ID for ticket creation purposes?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34009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596128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601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It's 10681.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73152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987552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05156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What is your employee email address associated with this issue?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49961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755648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1965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It's rudhik@gmail.com.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26771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523744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58775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Could you please provide the location where the issue occurred?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03580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91840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5584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Hyderabad.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80390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059936"/>
            <a:ext cx="5715000" cy="3054096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23944"/>
            <a:ext cx="5440680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Here's the summary of your ticket:
Employee ID: 10681
Email: rudhik@gmail.com
Location: Hyderabad
Short Description: Unable to log in to VDI
Detailed Description: Credentials timeout, cannot see anything
Category: VDI  ·  Priority: Critical
Is everything correct or would you like to change anything?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720547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7461504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752551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Everything is correct.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797356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8229600"/>
            <a:ext cx="5715000" cy="640080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8293608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Creating ticket... Ticket created successfully.
 Ticket ID: INC0010004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09728"/>
            <a:ext cx="1371600" cy="40233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65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Case 2 — Field Correction  ·  User Requests to Change Employee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Agent re-collects the corrected field and re-shows the updated summary before creating the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Hello. How can you help me today?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49961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55648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1965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Hi! I can take care of creating your ServiceNow ticket. Could you describe the issue you're facing?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26771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523744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8775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I'm not able to log in to my VDI.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03580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291840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5584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Can you provide more details about the issue you're experiencing?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380390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059936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2394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After providing the credentials, it is taking too much time to log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457200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828032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What is your employee ID for ticket creation purposes?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34009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596128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601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It's 1081.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610819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364224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2823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What is your employee email address associated with this issue?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87628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7132320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719632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It's rutik@gmail.com.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764438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7900416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796442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Could you please provide the location where the issue occurred?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841248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8668512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873252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It's in Hyderabad.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73152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987552"/>
            <a:ext cx="5715000" cy="2834640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051560"/>
            <a:ext cx="5440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Here's the summary of your ticket:
Employee ID: 1081
Email: rutik@gmail.com
Location: Hyderabad
Short Description: Unable to log in to VDI
Detailed Description: Credentials timeout on login
Category: VDI  ·  Priority: Critical
Is everything correct or would you like to change anything?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91363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169664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2336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 want to change my employee ID to 10681.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68172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937760"/>
            <a:ext cx="5715000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00176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Please provide new employee ID.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449824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705856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76986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It's 10681.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621792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6473952"/>
            <a:ext cx="5715000" cy="2834640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6537960"/>
            <a:ext cx="5440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Here's the updated summary:
Employee ID: 10681
Email: rutik@gmail.com
Location: Hyderabad
Short Description: Unable to log in to VDI
Detailed Description: Credentials timeout on login
Category: VDI  ·  Priority: Critical
Is everything correct or would you like to change anything?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9400032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9656064"/>
            <a:ext cx="5715000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97200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Everything is correct.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1016812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10424160"/>
            <a:ext cx="5715000" cy="640080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10488168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Creating ticket... Ticket created successfully.
 Ticket ID: INC0010004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09728"/>
            <a:ext cx="1371600" cy="40233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28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65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Case 3 — Out-of-Scope Questions  ·  Graceful Redirection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Agent classifies unrelated input via LangGraph 'unrelated' node and steers user back to ticket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731520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987552"/>
            <a:ext cx="8531352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051560"/>
            <a:ext cx="8257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Hello, do you know about Java?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99616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755648"/>
            <a:ext cx="8531352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1819656"/>
            <a:ext cx="8257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Hi! I can take care of creating your ServiceNow ticket. Could you describe the issue you're facing?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67712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D4"/>
                </a:solidFill>
              </a:rPr>
              <a:t>User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523744"/>
            <a:ext cx="8531352" cy="420624"/>
          </a:xfrm>
          <a:prstGeom prst="rect">
            <a:avLst/>
          </a:prstGeom>
          <a:solidFill>
            <a:srgbClr val="1E88E5"/>
          </a:solidFill>
          <a:ln w="9525">
            <a:solidFill>
              <a:srgbClr val="0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587752"/>
            <a:ext cx="8257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Go and drink some water for yourself.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35808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3A047"/>
                </a:solidFill>
              </a:rPr>
              <a:t>Customer Support Voice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291840"/>
            <a:ext cx="8531352" cy="420624"/>
          </a:xfrm>
          <a:prstGeom prst="rect">
            <a:avLst/>
          </a:prstGeom>
          <a:solidFill>
            <a:srgbClr val="1B3A52"/>
          </a:solidFill>
          <a:ln w="9525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355848"/>
            <a:ext cx="8257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Hi! I can take care of creating your ServiceNow ticket. Could you describe the issue you're facing?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029200"/>
            <a:ext cx="8531352" cy="1600200"/>
          </a:xfrm>
          <a:prstGeom prst="rect">
            <a:avLst/>
          </a:prstGeom>
          <a:solidFill>
            <a:srgbClr val="172A3D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935"/>
                </a:solidFill>
              </a:rPr>
              <a:t>LangGraph Routing — How It 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5504688"/>
            <a:ext cx="173736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5541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classify()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8887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0BEC5"/>
                </a:solidFill>
              </a:rPr>
              <a:t>Detects: greeting / ticket / unrelated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504688"/>
            <a:ext cx="173736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541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greeting()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8887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0BEC5"/>
                </a:solidFill>
              </a:rPr>
              <a:t>Salutation → welcome message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504688"/>
            <a:ext cx="1737360" cy="320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5541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unrelated()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8887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0BEC5"/>
                </a:solidFill>
              </a:rPr>
              <a:t>Off-topic → redirect to ticket 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5504688"/>
            <a:ext cx="1737360" cy="3200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5541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extract()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8887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0BEC5"/>
                </a:solidFill>
              </a:rPr>
              <a:t>On-topic → begin collecting ticket fields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